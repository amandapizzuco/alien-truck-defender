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84" r:id="rId3"/>
    <p:sldId id="285" r:id="rId4"/>
    <p:sldId id="274" r:id="rId5"/>
    <p:sldId id="272" r:id="rId6"/>
    <p:sldId id="273" r:id="rId7"/>
    <p:sldId id="275" r:id="rId8"/>
    <p:sldId id="276" r:id="rId9"/>
    <p:sldId id="277" r:id="rId10"/>
    <p:sldId id="279" r:id="rId11"/>
    <p:sldId id="278" r:id="rId12"/>
    <p:sldId id="280" r:id="rId13"/>
    <p:sldId id="281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8B8FA4-0D1D-A044-8598-C6B09FE92292}" v="336" dt="2026-05-12T03:12:22.939"/>
    <p1510:client id="{734D4508-77DF-7AB5-D304-4714C2CB755D}" v="906" dt="2026-05-12T03:17:37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34"/>
    <p:restoredTop sz="94588"/>
  </p:normalViewPr>
  <p:slideViewPr>
    <p:cSldViewPr snapToGrid="0">
      <p:cViewPr>
        <p:scale>
          <a:sx n="98" d="100"/>
          <a:sy n="98" d="100"/>
        </p:scale>
        <p:origin x="-4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838D-4F4A-F7F2-453B-1CEE73DFA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374B6-D8BD-7CCD-681B-CB15229CE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B5420-5932-DA19-C5AF-3AF33633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B138F-FF4B-9550-7882-FDEAC6C8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65BB5-8037-A0AF-2248-AD6FFAC05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2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931C-CA72-73A2-FB85-83EC93517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2C6E2-88DE-6D9B-F79C-B70BFA18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526C-C8CB-C08D-7CFA-2160699E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7C35-FE9D-DDB9-C92D-2229D318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C94F-DE61-A597-2EB3-71A97D8E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46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61B4-1C34-1682-A85A-6D7ABEAB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2CB9-90FA-2556-4294-776F052A6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196DE-1421-EFD7-4080-C37245BD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DE476-5E07-3200-4AFC-98C98DA9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1FFCB-43B8-C0D1-69EB-ECEAC848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3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5733-4CBE-9014-A4BB-19CFADA5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8CDE-AF92-61EB-20CF-3865ECA09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F9505-6901-B9F8-666A-F08939697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342FB-695E-E170-46EF-F803DC14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92539-FED7-B09C-4A84-81FA1C6A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64A3B-47E9-E5EE-8FB8-B646F0F0C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B96F-3B53-1EB9-EA51-9CFAEFCC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5D17D-799D-3847-A9E4-0649C749A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F1078-86C0-48F0-D3BA-E759C27DD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F38F7-D182-0D87-4A1B-A0DC344F2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4CEC8-0BB3-3BA5-C218-AE4AA095C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D6A64-17CE-1D20-DCFE-1FA2BE41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F32C07-1CCB-3850-047A-73BEFAC4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E9385-563F-FFAF-536D-EA9696C1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4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7E7C-9277-CBAC-626A-D0BB1E2B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9E8F32-6009-96BE-0CCF-24441EB1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5156E-6A55-BE63-71EE-E66187D8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D5FD-E491-8C2A-E7C3-A9A6F651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5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DBBBEE-1A15-10C5-0B43-EFCCB5223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DF4F8-9C2B-AC1B-C803-B6251538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99EE7-94FC-0E60-0F20-B3F19747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4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90421-C184-5D13-699F-29643520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630CA-1CA3-293D-1FAA-28828B1F3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8DAA7-F0F7-A322-27F0-835DCA324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7246C-179B-BCBF-73B2-D9A4C45EC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7C7A9-4322-56B1-B607-186AC997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7FAC8-7CA3-D0FE-9965-75234B0C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8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B7B7-6F05-00FD-E02B-9BE85454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601A8-A810-71DC-C6EE-C0BE63F31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465E9-8188-AD37-9CC5-44CC9A268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2A23A-FD7E-3339-AF50-36EAA93D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29838-1395-D2BE-5608-109598C3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3754D-8AC7-08CB-F8C7-A0F0D296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2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C4C1-D1CB-675E-91B7-0B5FD191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996CC-8ACE-DB7C-BA4F-293036446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32E8-9281-2633-2CE4-10938D27A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51B2-8D84-7290-7D53-C7DECEEB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78942-BE28-8429-B7DC-825BBBAE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FF0CB-B4E8-0D09-B116-B58007785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5B171-5BEA-88E4-29EA-440AC8720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1221C-7CDC-CF9D-2D60-C9606620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72452-8E6B-98CE-E52E-5CC2702B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8CAC-C890-B56E-51DF-ADC2C9A3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29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90D9D-2C70-1893-6BD4-47310416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DD8DE-433E-9F16-836B-82F891D04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229E-4381-62FE-E88C-5362E0822A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B1C94-3DFE-E84B-B437-73D544416C8C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84A9E-9E4E-4E28-3031-282AFFE15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9F49F-49AB-FC3C-BC9B-AFFA6231F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DD064-BB2B-1944-B851-8D3D7030D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75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gif"/><Relationship Id="rId4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3B66-C7C8-4129-2E1B-FC432448E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72D2D186-0F0F-E024-7F32-C101530F9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25255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B742659E-90A2-7576-4D25-5AAAEEABF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65A7DD-6E78-4F7C-A938-4C43731CA1AA}"/>
              </a:ext>
            </a:extLst>
          </p:cNvPr>
          <p:cNvSpPr txBox="1"/>
          <p:nvPr/>
        </p:nvSpPr>
        <p:spPr>
          <a:xfrm>
            <a:off x="394099" y="608861"/>
            <a:ext cx="3031026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Bonjour, </a:t>
            </a:r>
            <a:r>
              <a:rPr lang="en-CA" sz="2400" dirty="0" err="1">
                <a:solidFill>
                  <a:schemeClr val="bg1"/>
                </a:solidFill>
              </a:rPr>
              <a:t>aujourd’hui</a:t>
            </a:r>
            <a:r>
              <a:rPr lang="en-CA" sz="2400" dirty="0">
                <a:solidFill>
                  <a:schemeClr val="bg1"/>
                </a:solidFill>
              </a:rPr>
              <a:t> nous </a:t>
            </a:r>
            <a:r>
              <a:rPr lang="en-CA" sz="2400" dirty="0" err="1">
                <a:solidFill>
                  <a:schemeClr val="bg1"/>
                </a:solidFill>
              </a:rPr>
              <a:t>allons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présenter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notre</a:t>
            </a:r>
            <a:r>
              <a:rPr lang="en-CA" sz="2400" dirty="0">
                <a:solidFill>
                  <a:schemeClr val="bg1"/>
                </a:solidFill>
              </a:rPr>
              <a:t> jeu </a:t>
            </a:r>
            <a:r>
              <a:rPr lang="en-CA" sz="2400" dirty="0" err="1">
                <a:solidFill>
                  <a:schemeClr val="bg1"/>
                </a:solidFill>
              </a:rPr>
              <a:t>vidéo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i="1" dirty="0">
                <a:solidFill>
                  <a:schemeClr val="bg1"/>
                </a:solidFill>
              </a:rPr>
              <a:t>Alien Truck Defender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  <a:br>
              <a:rPr lang="en-CA" sz="2400" dirty="0">
                <a:solidFill>
                  <a:schemeClr val="bg1"/>
                </a:solidFill>
              </a:rPr>
            </a:br>
            <a:br>
              <a:rPr lang="en-CA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FC7845-0D51-96EB-407E-7DAC860929AE}"/>
              </a:ext>
            </a:extLst>
          </p:cNvPr>
          <p:cNvSpPr txBox="1"/>
          <p:nvPr/>
        </p:nvSpPr>
        <p:spPr>
          <a:xfrm>
            <a:off x="7428853" y="608862"/>
            <a:ext cx="3228814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Le but du jeu </a:t>
            </a:r>
            <a:r>
              <a:rPr lang="en-CA" sz="2400" dirty="0" err="1">
                <a:solidFill>
                  <a:schemeClr val="bg1"/>
                </a:solidFill>
              </a:rPr>
              <a:t>est</a:t>
            </a:r>
            <a:r>
              <a:rPr lang="en-CA" sz="2400" dirty="0">
                <a:solidFill>
                  <a:schemeClr val="bg1"/>
                </a:solidFill>
              </a:rPr>
              <a:t> de </a:t>
            </a:r>
            <a:r>
              <a:rPr lang="en-CA" sz="2400" dirty="0" err="1">
                <a:solidFill>
                  <a:schemeClr val="bg1"/>
                </a:solidFill>
              </a:rPr>
              <a:t>défendre</a:t>
            </a:r>
            <a:r>
              <a:rPr lang="en-CA" sz="2400" dirty="0">
                <a:solidFill>
                  <a:schemeClr val="bg1"/>
                </a:solidFill>
              </a:rPr>
              <a:t> le </a:t>
            </a:r>
            <a:r>
              <a:rPr lang="en-CA" sz="2400" dirty="0" err="1">
                <a:solidFill>
                  <a:schemeClr val="bg1"/>
                </a:solidFill>
              </a:rPr>
              <a:t>joueur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contre</a:t>
            </a:r>
            <a:r>
              <a:rPr lang="en-CA" sz="2400" dirty="0">
                <a:solidFill>
                  <a:schemeClr val="bg1"/>
                </a:solidFill>
              </a:rPr>
              <a:t> des </a:t>
            </a:r>
            <a:r>
              <a:rPr lang="en-CA" sz="2400" dirty="0" err="1">
                <a:solidFill>
                  <a:schemeClr val="bg1"/>
                </a:solidFill>
              </a:rPr>
              <a:t>vagues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d’aliens</a:t>
            </a:r>
            <a:r>
              <a:rPr lang="en-CA" sz="2400" dirty="0">
                <a:solidFill>
                  <a:schemeClr val="bg1"/>
                </a:solidFill>
              </a:rPr>
              <a:t> tout </a:t>
            </a:r>
            <a:r>
              <a:rPr lang="en-CA" sz="2400" dirty="0" err="1">
                <a:solidFill>
                  <a:schemeClr val="bg1"/>
                </a:solidFill>
              </a:rPr>
              <a:t>en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obtenant</a:t>
            </a:r>
            <a:r>
              <a:rPr lang="en-CA" sz="2400" dirty="0">
                <a:solidFill>
                  <a:schemeClr val="bg1"/>
                </a:solidFill>
              </a:rPr>
              <a:t> le </a:t>
            </a:r>
            <a:r>
              <a:rPr lang="en-CA" sz="2400" dirty="0" err="1">
                <a:solidFill>
                  <a:schemeClr val="bg1"/>
                </a:solidFill>
              </a:rPr>
              <a:t>meilleur</a:t>
            </a:r>
            <a:r>
              <a:rPr lang="en-CA" sz="2400" dirty="0">
                <a:solidFill>
                  <a:schemeClr val="bg1"/>
                </a:solidFill>
              </a:rPr>
              <a:t> score possible.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FFC60-1B9A-B4CB-007D-7374C15AEA93}"/>
              </a:ext>
            </a:extLst>
          </p:cNvPr>
          <p:cNvSpPr txBox="1"/>
          <p:nvPr/>
        </p:nvSpPr>
        <p:spPr>
          <a:xfrm>
            <a:off x="4313694" y="608861"/>
            <a:ext cx="2154265" cy="22159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Notre jeu a </a:t>
            </a:r>
            <a:r>
              <a:rPr lang="en-CA" sz="2400" dirty="0" err="1">
                <a:solidFill>
                  <a:schemeClr val="bg1"/>
                </a:solidFill>
              </a:rPr>
              <a:t>été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créé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 err="1">
                <a:solidFill>
                  <a:schemeClr val="bg1"/>
                </a:solidFill>
              </a:rPr>
              <a:t>en</a:t>
            </a:r>
            <a:r>
              <a:rPr lang="en-CA" sz="2400" dirty="0">
                <a:solidFill>
                  <a:schemeClr val="bg1"/>
                </a:solidFill>
              </a:rPr>
              <a:t> Python avec la bibliothèque </a:t>
            </a:r>
            <a:r>
              <a:rPr lang="en-CA" sz="2400" dirty="0" err="1">
                <a:solidFill>
                  <a:schemeClr val="bg1"/>
                </a:solidFill>
              </a:rPr>
              <a:t>Pygame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5CC98A00-740C-4A20-5FB4-F0EF4DE4C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4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57236-1741-E042-C3A4-A2DE98FE44FF}"/>
              </a:ext>
            </a:extLst>
          </p:cNvPr>
          <p:cNvSpPr txBox="1"/>
          <p:nvPr/>
        </p:nvSpPr>
        <p:spPr>
          <a:xfrm>
            <a:off x="9564129" y="1716856"/>
            <a:ext cx="22337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</a:rPr>
              <a:t>By: </a:t>
            </a:r>
          </a:p>
          <a:p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</a:rPr>
              <a:t>Amanda Pizzuco</a:t>
            </a:r>
          </a:p>
          <a:p>
            <a:r>
              <a:rPr lang="en-US" sz="2000" dirty="0" err="1">
                <a:solidFill>
                  <a:schemeClr val="bg1"/>
                </a:solidFill>
                <a:latin typeface="Garamond" panose="02020404030301010803" pitchFamily="18" charset="0"/>
              </a:rPr>
              <a:t>Subhaan</a:t>
            </a:r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</a:rPr>
              <a:t> Sheikh</a:t>
            </a:r>
          </a:p>
          <a:p>
            <a:r>
              <a:rPr lang="en-US" sz="2000" dirty="0">
                <a:solidFill>
                  <a:schemeClr val="bg1"/>
                </a:solidFill>
                <a:latin typeface="Garamond" panose="02020404030301010803" pitchFamily="18" charset="0"/>
              </a:rPr>
              <a:t>Siena </a:t>
            </a:r>
            <a:r>
              <a:rPr lang="en-US" sz="2000" dirty="0" err="1">
                <a:solidFill>
                  <a:schemeClr val="bg1"/>
                </a:solidFill>
                <a:latin typeface="Garamond" panose="02020404030301010803" pitchFamily="18" charset="0"/>
              </a:rPr>
              <a:t>Basili</a:t>
            </a:r>
            <a:endParaRPr lang="en-US" sz="2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44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7EE7-FBD3-A5FC-F015-24179778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6C6450B-7A79-CC3A-A68B-24998EE6160D}"/>
              </a:ext>
            </a:extLst>
          </p:cNvPr>
          <p:cNvSpPr txBox="1"/>
          <p:nvPr/>
        </p:nvSpPr>
        <p:spPr>
          <a:xfrm>
            <a:off x="586740" y="426720"/>
            <a:ext cx="6134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57F2AAC8-A1EB-1ED2-2A7A-D5052EF51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25255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F1516700-BAE1-074A-6741-D93D34458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52705-CDBB-1198-2336-35632CC0FA98}"/>
              </a:ext>
            </a:extLst>
          </p:cNvPr>
          <p:cNvSpPr txBox="1"/>
          <p:nvPr/>
        </p:nvSpPr>
        <p:spPr>
          <a:xfrm>
            <a:off x="552849" y="1672486"/>
            <a:ext cx="3031026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>
                <a:solidFill>
                  <a:schemeClr val="bg1"/>
                </a:solidFill>
                <a:latin typeface="Garamond"/>
              </a:rPr>
              <a:t>Bonjour,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aujourd’hui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nous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allons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présenter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notre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jeu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vidéo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i="1">
                <a:solidFill>
                  <a:schemeClr val="bg1"/>
                </a:solidFill>
                <a:latin typeface="Garamond"/>
              </a:rPr>
              <a:t>Alien Truck Defender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.</a:t>
            </a:r>
            <a:br>
              <a:rPr lang="en-CA" sz="2400" dirty="0">
                <a:solidFill>
                  <a:schemeClr val="bg1"/>
                </a:solidFill>
              </a:rPr>
            </a:br>
            <a:br>
              <a:rPr lang="en-CA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010C7-86B1-BB6C-C701-992207C1AA3B}"/>
              </a:ext>
            </a:extLst>
          </p:cNvPr>
          <p:cNvSpPr txBox="1"/>
          <p:nvPr/>
        </p:nvSpPr>
        <p:spPr>
          <a:xfrm>
            <a:off x="7444728" y="1672487"/>
            <a:ext cx="3228814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>
                <a:solidFill>
                  <a:schemeClr val="bg1"/>
                </a:solidFill>
                <a:latin typeface="Garamond"/>
              </a:rPr>
              <a:t>Le but du jeu est de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défendre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le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joueur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contre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vagues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d’aliens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tout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obtenant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le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meilleur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score possible.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245B8-EA8E-452B-532C-693879D2DC4C}"/>
              </a:ext>
            </a:extLst>
          </p:cNvPr>
          <p:cNvSpPr txBox="1"/>
          <p:nvPr/>
        </p:nvSpPr>
        <p:spPr>
          <a:xfrm>
            <a:off x="4361319" y="1720111"/>
            <a:ext cx="2154265" cy="221599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>
                <a:solidFill>
                  <a:schemeClr val="bg1"/>
                </a:solidFill>
                <a:latin typeface="Garamond"/>
              </a:rPr>
              <a:t>Notre jeu a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été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créé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Python avec la bibliothèque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Pygame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.</a:t>
            </a:r>
          </a:p>
          <a:p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C3905AF9-6D3C-AA14-7364-166102B09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96752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502B43-D973-DD8E-D848-2BC106C70D03}"/>
              </a:ext>
            </a:extLst>
          </p:cNvPr>
          <p:cNvSpPr txBox="1"/>
          <p:nvPr/>
        </p:nvSpPr>
        <p:spPr>
          <a:xfrm>
            <a:off x="666750" y="380999"/>
            <a:ext cx="6667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Garamond"/>
              </a:rPr>
              <a:t>Notre Projet</a:t>
            </a:r>
          </a:p>
        </p:txBody>
      </p:sp>
    </p:spTree>
    <p:extLst>
      <p:ext uri="{BB962C8B-B14F-4D97-AF65-F5344CB8AC3E}">
        <p14:creationId xmlns:p14="http://schemas.microsoft.com/office/powerpoint/2010/main" val="2676517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64336B6C-6ED7-AEE3-3370-F71BE183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01DFB7-CCFF-BA6E-8BC8-DAB1B9125F06}"/>
              </a:ext>
            </a:extLst>
          </p:cNvPr>
          <p:cNvSpPr txBox="1"/>
          <p:nvPr/>
        </p:nvSpPr>
        <p:spPr>
          <a:xfrm>
            <a:off x="492125" y="253999"/>
            <a:ext cx="78105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Garamond"/>
              </a:rPr>
              <a:t>Pour lancer le </a:t>
            </a:r>
            <a:r>
              <a:rPr lang="en-US" sz="2800" b="1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US" sz="2800" b="1">
                <a:solidFill>
                  <a:schemeClr val="bg1"/>
                </a:solidFill>
                <a:latin typeface="Garamond"/>
              </a:rPr>
              <a:t>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E00068-46F9-6B2C-A7FD-C05208FB2774}"/>
              </a:ext>
            </a:extLst>
          </p:cNvPr>
          <p:cNvSpPr txBox="1"/>
          <p:nvPr/>
        </p:nvSpPr>
        <p:spPr>
          <a:xfrm>
            <a:off x="492125" y="889843"/>
            <a:ext cx="8858250" cy="507831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</a:rPr>
              <a:t>Python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installé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Bibliothèque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Pygame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installée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r>
              <a:rPr lang="en-US" b="1" dirty="0">
                <a:solidFill>
                  <a:schemeClr val="bg1"/>
                </a:solidFill>
                <a:latin typeface="Garamond"/>
              </a:rPr>
              <a:t>Installation:</a:t>
            </a:r>
          </a:p>
          <a:p>
            <a:endParaRPr lang="en-US" b="1" dirty="0">
              <a:solidFill>
                <a:schemeClr val="bg1"/>
              </a:solidFill>
              <a:latin typeface="Garamond"/>
            </a:endParaRPr>
          </a:p>
          <a:p>
            <a:r>
              <a:rPr lang="en-US" b="1" dirty="0">
                <a:solidFill>
                  <a:schemeClr val="bg1"/>
                </a:solidFill>
                <a:latin typeface="Garamond"/>
              </a:rPr>
              <a:t>pip install </a:t>
            </a:r>
            <a:r>
              <a:rPr lang="en-US" b="1" dirty="0" err="1">
                <a:solidFill>
                  <a:schemeClr val="bg1"/>
                </a:solidFill>
                <a:latin typeface="Garamond"/>
              </a:rPr>
              <a:t>pygame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r>
              <a:rPr lang="en-US" b="1" dirty="0">
                <a:solidFill>
                  <a:schemeClr val="bg1"/>
                </a:solidFill>
                <a:latin typeface="Garamond"/>
              </a:rPr>
              <a:t>Lancer le jeu:</a:t>
            </a:r>
          </a:p>
          <a:p>
            <a:r>
              <a:rPr lang="en-US" b="1" dirty="0" err="1">
                <a:solidFill>
                  <a:schemeClr val="bg1"/>
                </a:solidFill>
                <a:latin typeface="Garamond"/>
              </a:rPr>
              <a:t>ALIENFINALPROJECT.py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endParaRPr lang="en-US" b="1" dirty="0">
              <a:solidFill>
                <a:schemeClr val="bg1"/>
              </a:solidFill>
              <a:latin typeface="Garamond"/>
            </a:endParaRPr>
          </a:p>
          <a:p>
            <a:r>
              <a:rPr lang="en-US" b="1" dirty="0" err="1">
                <a:solidFill>
                  <a:schemeClr val="bg1"/>
                </a:solidFill>
                <a:latin typeface="Garamond"/>
              </a:rPr>
              <a:t>Contrôles</a:t>
            </a:r>
            <a:r>
              <a:rPr lang="en-US" b="1" dirty="0">
                <a:solidFill>
                  <a:schemeClr val="bg1"/>
                </a:solidFill>
                <a:latin typeface="Garamond"/>
              </a:rPr>
              <a:t>:</a:t>
            </a:r>
          </a:p>
          <a:p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Clés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1,2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ou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3: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Choissiez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votre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camion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</a:rPr>
              <a:t>C : Pour changer le couleur de camion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</a:rPr>
              <a:t>Enter: commencer le jeu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Flèche gauche/droite :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déplacer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le camion 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SPACE :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tirer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M : changer de camion </a:t>
            </a:r>
            <a:r>
              <a:rPr lang="en-US" b="1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durant</a:t>
            </a: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le jeu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</a:rPr>
              <a:t>R : </a:t>
            </a:r>
            <a:r>
              <a:rPr lang="en-US" b="1" dirty="0" err="1">
                <a:solidFill>
                  <a:schemeClr val="bg1"/>
                </a:solidFill>
                <a:latin typeface="Garamond"/>
              </a:rPr>
              <a:t>rejouer</a:t>
            </a:r>
            <a:endParaRPr lang="en-US" b="1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ESC : quitter le jeu </a:t>
            </a:r>
            <a:endParaRPr lang="en-US" b="1" dirty="0">
              <a:solidFill>
                <a:schemeClr val="bg1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13269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49EC-E2D8-71BC-29A9-EBC56C691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41C243F3-B120-F05B-C99E-F1841C0D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048711A3-C993-F1A6-9072-D0894D1E6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A58A8370-D73B-2191-C238-B762F9F3C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515" y="4722126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4DF98-FD27-171D-E1F7-EF27719949EC}"/>
              </a:ext>
            </a:extLst>
          </p:cNvPr>
          <p:cNvSpPr txBox="1"/>
          <p:nvPr/>
        </p:nvSpPr>
        <p:spPr>
          <a:xfrm>
            <a:off x="1621970" y="1012371"/>
            <a:ext cx="4601891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Pour organiser le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séparé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 programme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fonctions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.</a:t>
            </a:r>
            <a:br>
              <a:rPr lang="en-CA" sz="2000" dirty="0">
                <a:latin typeface="Garamond"/>
              </a:rPr>
            </a:br>
            <a:r>
              <a:rPr lang="en-CA" sz="2000" dirty="0">
                <a:solidFill>
                  <a:schemeClr val="bg1"/>
                </a:solidFill>
                <a:latin typeface="Garamond"/>
              </a:rPr>
              <a:t>Cela nous a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aidés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à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rendre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 code plus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clair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et plus facile à modifier.</a:t>
            </a:r>
          </a:p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Par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exemple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 err="1">
                <a:solidFill>
                  <a:schemeClr val="bg1"/>
                </a:solidFill>
                <a:latin typeface="Garamond"/>
              </a:rPr>
              <a:t>certaines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fonctions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créent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objets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 err="1">
                <a:solidFill>
                  <a:schemeClr val="bg1"/>
                </a:solidFill>
                <a:latin typeface="Garamond"/>
              </a:rPr>
              <a:t>d’autres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mettent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à jour les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mouvements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Et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d’autres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gèrent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les collisions.</a:t>
            </a:r>
            <a:r>
              <a:rPr lang="en-CA" sz="2000" dirty="0">
                <a:solidFill>
                  <a:schemeClr val="bg1"/>
                </a:solidFill>
              </a:rPr>
              <a:t> </a:t>
            </a:r>
            <a:r>
              <a:rPr lang="en-CA" sz="2000" dirty="0"/>
              <a:t>and </a:t>
            </a:r>
            <a:endParaRPr lang="en-CA" dirty="0"/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85E964A3-3B8D-74A8-1E25-D40932F35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970" y="4523463"/>
            <a:ext cx="1995713" cy="1746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F97F27-16D6-C443-80D4-7F4DA749D6EB}"/>
              </a:ext>
            </a:extLst>
          </p:cNvPr>
          <p:cNvSpPr txBox="1"/>
          <p:nvPr/>
        </p:nvSpPr>
        <p:spPr>
          <a:xfrm>
            <a:off x="6664271" y="1012371"/>
            <a:ext cx="3843580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également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utilisé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dictionnaires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pour stocker des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informations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sur des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objets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tels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que 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la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vitesse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du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joueur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les vies,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les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dégâts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34290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1B74-13ED-0DB4-1678-7273329C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B2A8FD2C-9A93-AD7E-D2F3-4A1866D6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6328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1E3EC264-8570-97EA-6E48-EA824FD6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55229-D1BB-C099-0054-316F02D9C975}"/>
              </a:ext>
            </a:extLst>
          </p:cNvPr>
          <p:cNvSpPr txBox="1"/>
          <p:nvPr/>
        </p:nvSpPr>
        <p:spPr>
          <a:xfrm>
            <a:off x="701148" y="970602"/>
            <a:ext cx="5394852" cy="378565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Le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joueur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contrôle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un camion qui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peut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se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déplacer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de gauche à droite et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tirer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sur les aliens.</a:t>
            </a:r>
            <a:br>
              <a:rPr lang="en-CA" sz="2000" dirty="0">
                <a:latin typeface="Garamond"/>
              </a:rPr>
            </a:br>
            <a:r>
              <a:rPr lang="en-CA" sz="2000" dirty="0">
                <a:solidFill>
                  <a:schemeClr val="bg1"/>
                </a:solidFill>
                <a:latin typeface="Garamond"/>
              </a:rPr>
              <a:t>Pendant la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partie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les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ennemis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deviennent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progressivement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plus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difficiles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et plus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nombreux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.</a:t>
            </a:r>
            <a:br>
              <a:rPr lang="en-CA" sz="2000" dirty="0">
                <a:latin typeface="Garamond"/>
              </a:rPr>
            </a:br>
            <a:r>
              <a:rPr lang="en-CA" sz="2000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ajouté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mécaniques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comme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 err="1">
                <a:solidFill>
                  <a:schemeClr val="bg1"/>
                </a:solidFill>
                <a:latin typeface="Garamond"/>
              </a:rPr>
              <a:t>différents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types de camions,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boss,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power-ups,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explosions,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effets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sonores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et un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système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de score.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2C2BC-C315-8E60-55FE-C818EC87DE50}"/>
              </a:ext>
            </a:extLst>
          </p:cNvPr>
          <p:cNvSpPr txBox="1"/>
          <p:nvPr/>
        </p:nvSpPr>
        <p:spPr>
          <a:xfrm>
            <a:off x="7279821" y="970602"/>
            <a:ext cx="2744315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Notre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objectif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était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créer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un jeu qui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reste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simple à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comprendre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mais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qui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devient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plus intense avec le temps.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D09FB-9133-EB03-2282-96EAF7982C3E}"/>
              </a:ext>
            </a:extLst>
          </p:cNvPr>
          <p:cNvSpPr txBox="1"/>
          <p:nvPr/>
        </p:nvSpPr>
        <p:spPr>
          <a:xfrm>
            <a:off x="653143" y="231321"/>
            <a:ext cx="66266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Garamond"/>
              </a:rPr>
              <a:t>Le Jeu – Alien Truck Defender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FA7768-D0BA-AD22-74D8-ECAEE5815570}"/>
              </a:ext>
            </a:extLst>
          </p:cNvPr>
          <p:cNvSpPr txBox="1"/>
          <p:nvPr/>
        </p:nvSpPr>
        <p:spPr>
          <a:xfrm>
            <a:off x="6343291" y="4756254"/>
            <a:ext cx="5601418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Code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utilisée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pour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créer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le boss: 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if score &gt;=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next_boss_score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and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len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(bosses) == 0: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  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bosses.append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(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create_boss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(images["aliens"], level))</a:t>
            </a:r>
          </a:p>
        </p:txBody>
      </p:sp>
    </p:spTree>
    <p:extLst>
      <p:ext uri="{BB962C8B-B14F-4D97-AF65-F5344CB8AC3E}">
        <p14:creationId xmlns:p14="http://schemas.microsoft.com/office/powerpoint/2010/main" val="4017686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085A1-867C-DB46-8BBB-00208D0D8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B3D92E60-112B-D624-C290-EC02F40A1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724B1F-AE92-A8D3-6D11-5E6DFD36FEAF}"/>
              </a:ext>
            </a:extLst>
          </p:cNvPr>
          <p:cNvSpPr txBox="1"/>
          <p:nvPr/>
        </p:nvSpPr>
        <p:spPr>
          <a:xfrm>
            <a:off x="1159310" y="437228"/>
            <a:ext cx="3440625" cy="25545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Dans le code, 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utilisé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</a:p>
          <a:p>
            <a:r>
              <a:rPr lang="en-CA" sz="2000" err="1">
                <a:solidFill>
                  <a:schemeClr val="bg1"/>
                </a:solidFill>
                <a:latin typeface="Garamond"/>
              </a:rPr>
              <a:t>fonctions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pour organiser le programme,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comme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create_alien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()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update_aliens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()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move_player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()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play_game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().</a:t>
            </a:r>
          </a:p>
        </p:txBody>
      </p:sp>
      <p:pic>
        <p:nvPicPr>
          <p:cNvPr id="4" name="Picture 3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264CC8D7-E3DA-EA0A-BB6D-35679B339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515" y="4722126"/>
            <a:ext cx="2321379" cy="1547586"/>
          </a:xfrm>
          <a:prstGeom prst="rect">
            <a:avLst/>
          </a:prstGeom>
        </p:spPr>
      </p:pic>
      <p:pic>
        <p:nvPicPr>
          <p:cNvPr id="6" name="Picture 5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F2C50418-879B-1FFE-D241-004138A7A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802" y="4523463"/>
            <a:ext cx="1995713" cy="1746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31838F-4A27-7ED7-DAA8-572092883044}"/>
              </a:ext>
            </a:extLst>
          </p:cNvPr>
          <p:cNvSpPr txBox="1"/>
          <p:nvPr/>
        </p:nvSpPr>
        <p:spPr>
          <a:xfrm>
            <a:off x="6176265" y="437228"/>
            <a:ext cx="5036949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Une des parties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importantes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était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l’intégration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différentes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fonctionnalités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du code.</a:t>
            </a:r>
            <a:br>
              <a:rPr lang="en-CA" sz="2000">
                <a:latin typeface="Garamond"/>
              </a:rPr>
            </a:br>
            <a:r>
              <a:rPr lang="en-CA" sz="2000">
                <a:solidFill>
                  <a:schemeClr val="bg1"/>
                </a:solidFill>
                <a:latin typeface="Garamond"/>
              </a:rPr>
              <a:t>Par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exemple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les aliens se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déplacent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automatiquement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les bombes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tombent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ennemis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joueur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peut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tirer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les collisions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sont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détectées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par le programme.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B045F-CC3A-FAAA-6F82-2EFD1C65EE3D}"/>
              </a:ext>
            </a:extLst>
          </p:cNvPr>
          <p:cNvSpPr txBox="1"/>
          <p:nvPr/>
        </p:nvSpPr>
        <p:spPr>
          <a:xfrm>
            <a:off x="493138" y="3429000"/>
            <a:ext cx="4510694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créé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un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système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difficulté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progressive.</a:t>
            </a:r>
            <a:br>
              <a:rPr lang="en-CA" sz="2000">
                <a:latin typeface="Garamond"/>
              </a:rPr>
            </a:br>
            <a:r>
              <a:rPr lang="en-CA" sz="2000">
                <a:solidFill>
                  <a:schemeClr val="bg1"/>
                </a:solidFill>
                <a:latin typeface="Garamond"/>
              </a:rPr>
              <a:t>Avec le temps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les aliens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apparaissent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rapidement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les boss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deviennent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puissants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le jeu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devient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plus difficile.</a:t>
            </a:r>
          </a:p>
        </p:txBody>
      </p:sp>
    </p:spTree>
    <p:extLst>
      <p:ext uri="{BB962C8B-B14F-4D97-AF65-F5344CB8AC3E}">
        <p14:creationId xmlns:p14="http://schemas.microsoft.com/office/powerpoint/2010/main" val="418972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C28BC-CAA4-AE12-2F6E-822E173C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9D5D77EF-28DB-0E37-87D8-DCFE12E9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015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09F55CB4-6CB6-B49E-3568-3B925C09D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" y="0"/>
            <a:ext cx="12192000" cy="6858000"/>
          </a:xfrm>
          <a:prstGeom prst="rect">
            <a:avLst/>
          </a:prstGeom>
        </p:spPr>
      </p:pic>
      <p:pic>
        <p:nvPicPr>
          <p:cNvPr id="4" name="Picture 3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311489D5-B3E1-9972-1E01-13E3A6967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469" y="3986893"/>
            <a:ext cx="2935061" cy="19567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F0C976-4053-344E-E4FE-B73405A35303}"/>
              </a:ext>
            </a:extLst>
          </p:cNvPr>
          <p:cNvSpPr txBox="1"/>
          <p:nvPr/>
        </p:nvSpPr>
        <p:spPr>
          <a:xfrm>
            <a:off x="6385301" y="800010"/>
            <a:ext cx="4246536" cy="25545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CA" sz="2000" err="1">
                <a:solidFill>
                  <a:schemeClr val="bg1"/>
                </a:solidFill>
                <a:latin typeface="Garamond"/>
              </a:rPr>
              <a:t>Chaque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camion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possède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statistiques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différentes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 Speedster est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rapide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 Heavy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possède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plus de vies,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le Classic est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équilibré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</a:t>
            </a:r>
          </a:p>
          <a:p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ajouté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un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système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 couleurs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personnalisées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pour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rendre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 jeu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interactif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</a:t>
            </a:r>
          </a:p>
        </p:txBody>
      </p:sp>
      <p:pic>
        <p:nvPicPr>
          <p:cNvPr id="8" name="Picture 7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FDE11DAD-E888-059B-354B-4F7125C23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7994" y="4383148"/>
            <a:ext cx="1995713" cy="17462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B95E01-6270-E7D0-C609-3427A6BF342B}"/>
              </a:ext>
            </a:extLst>
          </p:cNvPr>
          <p:cNvSpPr txBox="1"/>
          <p:nvPr/>
        </p:nvSpPr>
        <p:spPr>
          <a:xfrm>
            <a:off x="1352493" y="800010"/>
            <a:ext cx="3688597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ajouté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un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écran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sélection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avant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 début du jeu.</a:t>
            </a:r>
            <a:br>
              <a:rPr lang="en-CA" sz="2000" dirty="0">
                <a:latin typeface="Garamond"/>
              </a:rPr>
            </a:br>
            <a:r>
              <a:rPr lang="en-CA" sz="2000" dirty="0">
                <a:solidFill>
                  <a:schemeClr val="bg1"/>
                </a:solidFill>
                <a:latin typeface="Garamond"/>
              </a:rPr>
              <a:t>Le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joueur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peut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choisir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entre trois types de camions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Classic,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Speedster,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et Heavy.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6385B-2424-9C70-F34B-BDF06DEAB9E2}"/>
              </a:ext>
            </a:extLst>
          </p:cNvPr>
          <p:cNvSpPr txBox="1"/>
          <p:nvPr/>
        </p:nvSpPr>
        <p:spPr>
          <a:xfrm>
            <a:off x="672859" y="3523623"/>
            <a:ext cx="5423140" cy="7078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Le code pour </a:t>
            </a:r>
            <a:r>
              <a:rPr lang="en-US" sz="2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créer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lang="en-US" sz="2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l’écran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de selection:</a:t>
            </a:r>
          </a:p>
          <a:p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def </a:t>
            </a:r>
            <a:r>
              <a:rPr lang="en-US" sz="2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choose_truck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(screen, background, </a:t>
            </a:r>
            <a:r>
              <a:rPr lang="en-US" sz="2000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base_player</a:t>
            </a:r>
            <a:r>
              <a:rPr lang="en-US" sz="2000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3107397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16A5-C5B9-3898-8D46-27C57CD4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7BAD1288-A533-2837-19B8-C96657406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0FF9D22F-C99C-A0A2-FC9F-748678858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A7565053-8817-7ACA-C52A-844D86A2A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7201" y="4722126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4B2407-4E0D-0B52-2950-0DBA1C3ABE0F}"/>
              </a:ext>
            </a:extLst>
          </p:cNvPr>
          <p:cNvSpPr txBox="1"/>
          <p:nvPr/>
        </p:nvSpPr>
        <p:spPr>
          <a:xfrm>
            <a:off x="1240970" y="1012371"/>
            <a:ext cx="659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and abilities.” </a:t>
            </a: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63ECD0BE-5609-C955-5E63-24E7DD28B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53" y="3634460"/>
            <a:ext cx="2485573" cy="21748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78ADA7-62EE-45EA-0CE4-C53AF66DDBF9}"/>
              </a:ext>
            </a:extLst>
          </p:cNvPr>
          <p:cNvSpPr txBox="1"/>
          <p:nvPr/>
        </p:nvSpPr>
        <p:spPr>
          <a:xfrm>
            <a:off x="838199" y="803915"/>
            <a:ext cx="5392120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CA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créé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types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d’ennemis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avec des animations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différentes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.</a:t>
            </a:r>
            <a:br>
              <a:rPr lang="en-CA" dirty="0">
                <a:latin typeface="Garamond"/>
              </a:rPr>
            </a:br>
            <a:r>
              <a:rPr lang="en-CA" dirty="0">
                <a:solidFill>
                  <a:schemeClr val="bg1"/>
                </a:solidFill>
                <a:latin typeface="Garamond"/>
              </a:rPr>
              <a:t>Les aliens se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déplacent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automatiquement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et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changent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de direction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lorsqu’ils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atteignent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les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côtés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de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l’écran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.</a:t>
            </a:r>
          </a:p>
          <a:p>
            <a:r>
              <a:rPr lang="en-CA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intégré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  <a:latin typeface="Garamond"/>
              </a:rPr>
              <a:t>des bombes,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  <a:latin typeface="Garamond"/>
              </a:rPr>
              <a:t>des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tirs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de boss,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  <a:latin typeface="Garamond"/>
              </a:rPr>
              <a:t>Et des explosions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animées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349A5-7167-5AF5-B809-BE0FE56D2EEA}"/>
              </a:ext>
            </a:extLst>
          </p:cNvPr>
          <p:cNvSpPr txBox="1"/>
          <p:nvPr/>
        </p:nvSpPr>
        <p:spPr>
          <a:xfrm>
            <a:off x="7465939" y="1012370"/>
            <a:ext cx="2716447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dirty="0">
                <a:solidFill>
                  <a:schemeClr val="bg1"/>
                </a:solidFill>
                <a:latin typeface="Garamond"/>
              </a:rPr>
              <a:t>Une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partie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importante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consistait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à synchroniser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tous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les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objets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mouvement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dirty="0" err="1">
                <a:solidFill>
                  <a:schemeClr val="bg1"/>
                </a:solidFill>
                <a:latin typeface="Garamond"/>
              </a:rPr>
              <a:t>même</a:t>
            </a:r>
            <a:r>
              <a:rPr lang="en-CA" dirty="0">
                <a:solidFill>
                  <a:schemeClr val="bg1"/>
                </a:solidFill>
                <a:latin typeface="Garamond"/>
              </a:rPr>
              <a:t> temps sans faire planter le jeu.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946F6-CADA-FC72-2121-89A85E465745}"/>
              </a:ext>
            </a:extLst>
          </p:cNvPr>
          <p:cNvSpPr txBox="1"/>
          <p:nvPr/>
        </p:nvSpPr>
        <p:spPr>
          <a:xfrm>
            <a:off x="4984750" y="3619500"/>
            <a:ext cx="3587750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Exemple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:</a:t>
            </a:r>
          </a:p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  <a:ea typeface="+mn-lt"/>
              <a:cs typeface="+mn-lt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def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update_explosions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(explosions):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 for explosion in explosions[:]:</a:t>
            </a:r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     explosion["life"] -= 1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73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8A1FA-C32E-5ADE-51A1-7C46FB2B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D6F3B19C-F625-DCF4-B2BD-FE150FF46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B1462F8F-90B9-5CB6-0CF8-672F18E8B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94DA43F2-135F-8ED5-E5F5-0137D3E95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972" y="4622794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58188D-50A6-4F18-224A-5D63E53DE76A}"/>
              </a:ext>
            </a:extLst>
          </p:cNvPr>
          <p:cNvSpPr txBox="1"/>
          <p:nvPr/>
        </p:nvSpPr>
        <p:spPr>
          <a:xfrm>
            <a:off x="2453340" y="744283"/>
            <a:ext cx="6596743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ajouté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boss qui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apparaissent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après un certain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nombre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 points.</a:t>
            </a:r>
            <a:br>
              <a:rPr lang="en-CA" sz="2000">
                <a:latin typeface="Garamond"/>
              </a:rPr>
            </a:br>
            <a:r>
              <a:rPr lang="en-CA" sz="2000">
                <a:solidFill>
                  <a:schemeClr val="bg1"/>
                </a:solidFill>
                <a:latin typeface="Garamond"/>
              </a:rPr>
              <a:t>Les boss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ont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plus de vie,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attaques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spéciales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tirs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supplémentaires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 </a:t>
            </a: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84933196-890C-B735-5D3B-E2132687B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913" y="4989281"/>
            <a:ext cx="1995713" cy="17462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5C748C-42F6-113E-AA6F-3A8F7CEB224F}"/>
              </a:ext>
            </a:extLst>
          </p:cNvPr>
          <p:cNvSpPr txBox="1"/>
          <p:nvPr/>
        </p:nvSpPr>
        <p:spPr>
          <a:xfrm>
            <a:off x="2291839" y="3079216"/>
            <a:ext cx="2975675" cy="25545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créé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power-ups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Triple Rockets,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Shield,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Lightning. </a:t>
            </a:r>
          </a:p>
          <a:p>
            <a:r>
              <a:rPr lang="en-CA" sz="2000" err="1">
                <a:solidFill>
                  <a:schemeClr val="bg1"/>
                </a:solidFill>
                <a:latin typeface="Garamond"/>
              </a:rPr>
              <a:t>Ces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bonus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rendent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 jeu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dynamique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et plus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stratégique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90904-5E96-7ADB-8F01-8B1EA7CF8692}"/>
              </a:ext>
            </a:extLst>
          </p:cNvPr>
          <p:cNvSpPr txBox="1"/>
          <p:nvPr/>
        </p:nvSpPr>
        <p:spPr>
          <a:xfrm>
            <a:off x="5905500" y="3222625"/>
            <a:ext cx="3937000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Exemple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: 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kinds = ["triple", "lightning", "shield"]</a:t>
            </a:r>
            <a:endParaRPr lang="en-US" dirty="0"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kind =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random.choice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(kinds)</a:t>
            </a:r>
          </a:p>
          <a:p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Ce code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utiliser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l'idée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des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listes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 et de "random"</a:t>
            </a:r>
          </a:p>
        </p:txBody>
      </p:sp>
    </p:spTree>
    <p:extLst>
      <p:ext uri="{BB962C8B-B14F-4D97-AF65-F5344CB8AC3E}">
        <p14:creationId xmlns:p14="http://schemas.microsoft.com/office/powerpoint/2010/main" val="358331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44A7-AD3C-3E23-8EFB-187B7702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AE98ABE-3881-EE14-BCC2-CEB2E6A7C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1B3BDA07-0C19-D05B-C63A-6EC1139EE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385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71712B14-30D2-D6E9-C524-2C9373A3C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295" y="5071643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C8F3CA-C41E-69F7-CEAF-54F47A4A7C9F}"/>
              </a:ext>
            </a:extLst>
          </p:cNvPr>
          <p:cNvSpPr txBox="1"/>
          <p:nvPr/>
        </p:nvSpPr>
        <p:spPr>
          <a:xfrm>
            <a:off x="1997633" y="127154"/>
            <a:ext cx="8196945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Pour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rendre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 jeu plus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immersif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ajouté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éléments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visuels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et audio.</a:t>
            </a:r>
            <a:br>
              <a:rPr lang="en-CA" sz="2000" dirty="0">
                <a:latin typeface="Garamond"/>
              </a:rPr>
            </a:br>
            <a:r>
              <a:rPr lang="en-CA" sz="2000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utilisé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sprites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d’aliens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animations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d’explosion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un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arrière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-plan spatial,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  <a:latin typeface="Garamond"/>
              </a:rPr>
              <a:t>des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effets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sonores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CA" sz="2000">
              <a:solidFill>
                <a:schemeClr val="bg1"/>
              </a:solidFill>
              <a:latin typeface="Garamond"/>
            </a:endParaRPr>
          </a:p>
          <a:p>
            <a:r>
              <a:rPr lang="en-CA" sz="2000" dirty="0" err="1">
                <a:solidFill>
                  <a:schemeClr val="bg1"/>
                </a:solidFill>
                <a:latin typeface="Garamond"/>
              </a:rPr>
              <a:t>Ces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éléments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ont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aidé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à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rendre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le jeu plus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complet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et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interactif</a:t>
            </a:r>
            <a:endParaRPr lang="en-CA" sz="2000" dirty="0">
              <a:solidFill>
                <a:schemeClr val="bg1"/>
              </a:solidFill>
              <a:latin typeface="Garamond"/>
            </a:endParaRP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8553334F-51F5-BF39-2720-3D8791536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840" y="128452"/>
            <a:ext cx="1995713" cy="17462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D82039-85BA-50FD-C3D4-4D6D87EC0051}"/>
              </a:ext>
            </a:extLst>
          </p:cNvPr>
          <p:cNvSpPr txBox="1"/>
          <p:nvPr/>
        </p:nvSpPr>
        <p:spPr>
          <a:xfrm>
            <a:off x="3362066" y="3286428"/>
            <a:ext cx="5470702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Exemple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</a:rPr>
              <a:t>:</a:t>
            </a: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def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create_explosion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(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rect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explosion_images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):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 explosion = {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     "images":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explosion_images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,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     "image":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explosion_images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[0],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     "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rect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":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explosion_images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[0].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get_rect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(center=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rect.center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),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     "life": 12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 }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Garamond" panose="02020404030301010803" pitchFamily="18" charset="0"/>
                <a:ea typeface="+mn-lt"/>
                <a:cs typeface="+mn-lt"/>
              </a:rPr>
              <a:t>    return explosion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81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F10CE-06CD-E809-2AAD-1DA58F53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27EDAA66-3CFA-FD65-7BE7-B09F2A01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06972E0E-644D-A7CF-CEDC-056FE844B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6B218C04-1077-7066-46C0-6EC09CFDE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972" y="4622794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92D81A-9279-5748-2F93-2CAB8EFDA5C3}"/>
              </a:ext>
            </a:extLst>
          </p:cNvPr>
          <p:cNvSpPr txBox="1"/>
          <p:nvPr/>
        </p:nvSpPr>
        <p:spPr>
          <a:xfrm>
            <a:off x="1997633" y="1536164"/>
            <a:ext cx="8196945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>
                <a:solidFill>
                  <a:schemeClr val="bg1"/>
                </a:solidFill>
                <a:latin typeface="Garamond"/>
              </a:rPr>
              <a:t>Pendant le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développement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rencontré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problèmes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techniques.</a:t>
            </a:r>
            <a:br>
              <a:rPr lang="en-CA" sz="2000">
                <a:latin typeface="Garamond"/>
              </a:rPr>
            </a:br>
            <a:r>
              <a:rPr lang="en-CA" sz="2000">
                <a:solidFill>
                  <a:schemeClr val="bg1"/>
                </a:solidFill>
                <a:latin typeface="Garamond"/>
              </a:rPr>
              <a:t>Par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exemple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le jeu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ralentissait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quand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objets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apparaissaient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certaines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collisions ne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fonctionnaient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pas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correctement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certains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sons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ou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images ne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chargeaient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pas. </a:t>
            </a:r>
          </a:p>
          <a:p>
            <a:endParaRPr lang="en-CA" sz="2000">
              <a:solidFill>
                <a:schemeClr val="bg1"/>
              </a:solidFill>
              <a:latin typeface="Garamond"/>
            </a:endParaRPr>
          </a:p>
          <a:p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dû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tester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versions du code et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corriger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erreurs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pour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rendre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 jeu plus stable.</a:t>
            </a: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2BAC8742-7022-2F3C-A3B3-5B585C13F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913" y="4989281"/>
            <a:ext cx="1995713" cy="1746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C90BF1-3BAB-7518-4485-47D4F233B091}"/>
              </a:ext>
            </a:extLst>
          </p:cNvPr>
          <p:cNvSpPr txBox="1"/>
          <p:nvPr/>
        </p:nvSpPr>
        <p:spPr>
          <a:xfrm>
            <a:off x="1115785" y="299356"/>
            <a:ext cx="6994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Garamond"/>
              </a:rPr>
              <a:t>Notre Progression</a:t>
            </a:r>
          </a:p>
        </p:txBody>
      </p:sp>
    </p:spTree>
    <p:extLst>
      <p:ext uri="{BB962C8B-B14F-4D97-AF65-F5344CB8AC3E}">
        <p14:creationId xmlns:p14="http://schemas.microsoft.com/office/powerpoint/2010/main" val="2513619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46812-5507-A27E-0153-C0EA705A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E4E2BB13-9CB9-FA78-1514-8CEEAF5B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3AA794D2-FBD0-2D04-E75E-FDC2097E8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27" y="9279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31B3EA96-FA33-478F-90EE-87B34AF07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972" y="4622794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3F8191-9EC3-173B-7DE9-C5078881AA7B}"/>
              </a:ext>
            </a:extLst>
          </p:cNvPr>
          <p:cNvSpPr txBox="1"/>
          <p:nvPr/>
        </p:nvSpPr>
        <p:spPr>
          <a:xfrm>
            <a:off x="1312305" y="1525533"/>
            <a:ext cx="3456124" cy="29347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err="1">
                <a:solidFill>
                  <a:schemeClr val="bg1"/>
                </a:solidFill>
                <a:latin typeface="Garamond"/>
              </a:rPr>
              <a:t>Chaque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membre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groupe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a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participé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au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développement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du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</a:t>
            </a:r>
            <a:br>
              <a:rPr lang="en-CA" sz="2000">
                <a:latin typeface="Garamond"/>
              </a:rPr>
            </a:br>
            <a:r>
              <a:rPr lang="en-CA" sz="20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collaboré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pour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tester le jeu,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corriger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les bugs,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err="1">
                <a:solidFill>
                  <a:schemeClr val="bg1"/>
                </a:solidFill>
                <a:latin typeface="Garamond"/>
              </a:rPr>
              <a:t>améliorer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idées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>
                <a:solidFill>
                  <a:schemeClr val="bg1"/>
                </a:solidFill>
                <a:latin typeface="Garamond"/>
              </a:rPr>
              <a:t>et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intégrer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les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différentes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parties du code.</a:t>
            </a: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408760B7-68E0-50E6-E136-9CDC76FB0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913" y="4989281"/>
            <a:ext cx="1995713" cy="17462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31628-6CCA-EF47-95B4-A0E7D09ABEF4}"/>
              </a:ext>
            </a:extLst>
          </p:cNvPr>
          <p:cNvSpPr txBox="1"/>
          <p:nvPr/>
        </p:nvSpPr>
        <p:spPr>
          <a:xfrm>
            <a:off x="7274563" y="668128"/>
            <a:ext cx="2448733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err="1">
                <a:solidFill>
                  <a:schemeClr val="bg1"/>
                </a:solidFill>
                <a:latin typeface="Garamond"/>
              </a:rPr>
              <a:t>L’intégration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était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importante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parce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que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fonctionnalités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devaient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fonctionner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 ensemble sans </a:t>
            </a:r>
            <a:r>
              <a:rPr lang="en-CA" sz="2000" err="1">
                <a:solidFill>
                  <a:schemeClr val="bg1"/>
                </a:solidFill>
                <a:latin typeface="Garamond"/>
              </a:rPr>
              <a:t>conflit</a:t>
            </a:r>
            <a:r>
              <a:rPr lang="en-CA" sz="2000">
                <a:solidFill>
                  <a:schemeClr val="bg1"/>
                </a:solidFill>
                <a:latin typeface="Garamond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82B1B-6D1A-A623-70D2-2336C8DC460D}"/>
              </a:ext>
            </a:extLst>
          </p:cNvPr>
          <p:cNvSpPr txBox="1"/>
          <p:nvPr/>
        </p:nvSpPr>
        <p:spPr>
          <a:xfrm>
            <a:off x="7068827" y="3916952"/>
            <a:ext cx="2898183" cy="16312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aussi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utilisé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un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diaporama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pour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mieux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expliquer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notre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travail et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montrer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l’évolution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du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672877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4868-38A5-C640-6629-736FEE467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B820A032-DDC0-C8B8-F66C-ADB54B89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2675343A-D542-FDDA-83D3-3C6C3B29F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toy tank with a black background&#10;&#10;Description automatically generated">
            <a:extLst>
              <a:ext uri="{FF2B5EF4-FFF2-40B4-BE49-F238E27FC236}">
                <a16:creationId xmlns:a16="http://schemas.microsoft.com/office/drawing/2014/main" id="{D470504E-2413-F22C-5DFD-1B3F5C15E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0972" y="4622794"/>
            <a:ext cx="2321379" cy="1547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4094C5-C95C-5243-0E78-679FD5F5991B}"/>
              </a:ext>
            </a:extLst>
          </p:cNvPr>
          <p:cNvSpPr txBox="1"/>
          <p:nvPr/>
        </p:nvSpPr>
        <p:spPr>
          <a:xfrm>
            <a:off x="2199339" y="1715457"/>
            <a:ext cx="8196945" cy="26776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>
                <a:solidFill>
                  <a:schemeClr val="bg1"/>
                </a:solidFill>
                <a:latin typeface="Garamond"/>
              </a:rPr>
              <a:t>Ce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nous a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permis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d’améliorer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compétences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400">
                <a:solidFill>
                  <a:schemeClr val="bg1"/>
                </a:solidFill>
                <a:latin typeface="Garamond"/>
              </a:rPr>
              <a:t>La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programmation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en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Python,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400" err="1">
                <a:solidFill>
                  <a:schemeClr val="bg1"/>
                </a:solidFill>
                <a:latin typeface="Garamond"/>
              </a:rPr>
              <a:t>l’utilisation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de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Pygame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400">
                <a:solidFill>
                  <a:schemeClr val="bg1"/>
                </a:solidFill>
                <a:latin typeface="Garamond"/>
              </a:rPr>
              <a:t>Le travail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d’équipe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400">
                <a:solidFill>
                  <a:schemeClr val="bg1"/>
                </a:solidFill>
                <a:latin typeface="Garamond"/>
              </a:rPr>
              <a:t>et la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résolution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de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problèmes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. </a:t>
            </a:r>
          </a:p>
          <a:p>
            <a:r>
              <a:rPr lang="en-CA" sz="2400">
                <a:solidFill>
                  <a:schemeClr val="bg1"/>
                </a:solidFill>
                <a:latin typeface="Garamond"/>
              </a:rPr>
              <a:t>Nous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appris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comment organiser un grand programme avec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fonctions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et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éléments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400" err="1">
                <a:solidFill>
                  <a:schemeClr val="bg1"/>
                </a:solidFill>
                <a:latin typeface="Garamond"/>
              </a:rPr>
              <a:t>interactifs</a:t>
            </a:r>
            <a:r>
              <a:rPr lang="en-CA" sz="2400">
                <a:solidFill>
                  <a:schemeClr val="bg1"/>
                </a:solidFill>
                <a:latin typeface="Garamond"/>
              </a:rPr>
              <a:t>.</a:t>
            </a:r>
          </a:p>
        </p:txBody>
      </p:sp>
      <p:pic>
        <p:nvPicPr>
          <p:cNvPr id="9" name="Picture 8" descr="A toy control panel with many buttons&#10;&#10;Description automatically generated with medium confidence">
            <a:extLst>
              <a:ext uri="{FF2B5EF4-FFF2-40B4-BE49-F238E27FC236}">
                <a16:creationId xmlns:a16="http://schemas.microsoft.com/office/drawing/2014/main" id="{AB728025-E691-0914-732F-AA746C682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913" y="4989281"/>
            <a:ext cx="1995713" cy="174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3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ark blue background with white dots&#10;&#10;Description automatically generated">
            <a:extLst>
              <a:ext uri="{FF2B5EF4-FFF2-40B4-BE49-F238E27FC236}">
                <a16:creationId xmlns:a16="http://schemas.microsoft.com/office/drawing/2014/main" id="{3D7E58BC-A2A3-D96C-710B-188C8933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8871D0-31D8-462F-D749-14AFCDB49E46}"/>
              </a:ext>
            </a:extLst>
          </p:cNvPr>
          <p:cNvSpPr txBox="1"/>
          <p:nvPr/>
        </p:nvSpPr>
        <p:spPr>
          <a:xfrm>
            <a:off x="1761190" y="1298948"/>
            <a:ext cx="9490448" cy="42165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  <a:latin typeface="Garamond"/>
              </a:rPr>
              <a:t>Principales</a:t>
            </a:r>
            <a:r>
              <a:rPr lang="en-US" sz="2800" b="1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Garamond"/>
              </a:rPr>
              <a:t>Réussites</a:t>
            </a:r>
            <a:r>
              <a:rPr lang="en-US" sz="2800" b="1" dirty="0">
                <a:solidFill>
                  <a:schemeClr val="bg1"/>
                </a:solidFill>
                <a:latin typeface="Garamond"/>
              </a:rPr>
              <a:t>:</a:t>
            </a:r>
          </a:p>
          <a:p>
            <a:endParaRPr lang="en-US" sz="2800" b="1" dirty="0">
              <a:solidFill>
                <a:schemeClr val="bg1"/>
              </a:solidFill>
              <a:latin typeface="Garamond"/>
            </a:endParaRPr>
          </a:p>
          <a:p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Nos plus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grandes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réussites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ont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été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: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créer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un jeu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complètement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fonctionnel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, 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intégrer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plusieurs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fonctionnalités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ensemble sans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conflits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, 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ajouter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des boss, des power-ups et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différents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types de camions, 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créer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un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système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difficulté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progressive, 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et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organiser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le code de façon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claire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 et </a:t>
            </a:r>
            <a:r>
              <a:rPr lang="en-US" sz="2400" dirty="0" err="1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efficace</a:t>
            </a:r>
            <a:r>
              <a:rPr lang="en-US" sz="2400" dirty="0">
                <a:solidFill>
                  <a:schemeClr val="bg1"/>
                </a:solidFill>
                <a:latin typeface="Garamond"/>
                <a:ea typeface="+mn-lt"/>
                <a:cs typeface="+mn-lt"/>
              </a:rPr>
              <a:t>. </a:t>
            </a:r>
            <a:endParaRPr lang="en-US" sz="2400" dirty="0">
              <a:solidFill>
                <a:schemeClr val="bg1"/>
              </a:solidFill>
              <a:latin typeface="Garamond"/>
            </a:endParaRPr>
          </a:p>
          <a:p>
            <a:endParaRPr lang="en-US" sz="2800" b="1" dirty="0">
              <a:solidFill>
                <a:schemeClr val="bg1"/>
              </a:solidFill>
              <a:latin typeface="Garamond"/>
            </a:endParaRPr>
          </a:p>
          <a:p>
            <a:r>
              <a:rPr lang="en-CA" sz="2000" dirty="0" err="1">
                <a:solidFill>
                  <a:schemeClr val="bg1"/>
                </a:solidFill>
                <a:latin typeface="Garamond"/>
              </a:rPr>
              <a:t>Même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si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nous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rencontré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plusieurs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défis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techniques, nous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avons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réussi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à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intégrer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toutes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lesparties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du </a:t>
            </a:r>
            <a:r>
              <a:rPr lang="en-CA" sz="2000" dirty="0" err="1">
                <a:solidFill>
                  <a:schemeClr val="bg1"/>
                </a:solidFill>
                <a:latin typeface="Garamond"/>
              </a:rPr>
              <a:t>projet</a:t>
            </a:r>
            <a:r>
              <a:rPr lang="en-CA" sz="2000" dirty="0">
                <a:solidFill>
                  <a:schemeClr val="bg1"/>
                </a:solidFill>
                <a:latin typeface="Garamond"/>
              </a:rPr>
              <a:t> ensemble.</a:t>
            </a:r>
            <a:endParaRPr lang="en-US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27C83-A1AC-8E14-684E-25458053AC66}"/>
              </a:ext>
            </a:extLst>
          </p:cNvPr>
          <p:cNvSpPr txBox="1"/>
          <p:nvPr/>
        </p:nvSpPr>
        <p:spPr>
          <a:xfrm>
            <a:off x="5317191" y="6016625"/>
            <a:ext cx="344580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3232364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1137</Words>
  <Application>Microsoft Macintosh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Pizzuco</dc:creator>
  <cp:lastModifiedBy>Amanda Pizzuco</cp:lastModifiedBy>
  <cp:revision>4</cp:revision>
  <dcterms:created xsi:type="dcterms:W3CDTF">2026-05-11T21:34:04Z</dcterms:created>
  <dcterms:modified xsi:type="dcterms:W3CDTF">2026-05-12T13:58:08Z</dcterms:modified>
</cp:coreProperties>
</file>